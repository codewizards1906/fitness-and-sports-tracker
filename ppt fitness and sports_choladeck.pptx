
<file path=[Content_Types].xml><?xml version="1.0" encoding="utf-8"?>
<Types xmlns="http://schemas.openxmlformats.org/package/2006/content-types">
  <Default Extension="xml" ContentType="application/vnd.openxmlformats-officedocument.extended-properties+xml"/>
  <Default Extension="jpeg" ContentType="image/jpeg"/>
  <Default Extension="png" ContentType="image/png"/>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6.xml" ContentType="application/vnd.openxmlformats-officedocument.presentationml.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tableStyles.xml" ContentType="application/vnd.openxmlformats-officedocument.presentationml.tableStyles+xml"/>
  <Override PartName="/ppt/slides/slide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docProps/core1.xml" ContentType="application/vnd.openxmlformats-package.core-propertie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openxmlformats.org/officedocument/2006/relationships/metadata/core-properties" Target="/docProps/core1.xml" Id="rId5" /><Relationship Type="http://schemas.openxmlformats.org/officeDocument/2006/relationships/custom-properties" Target="/docProps/custom.xml" Id="rId4"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4" r:id="rId10"/>
    <p:sldId id="265" r:id="rId11"/>
    <p:sldId id="266"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5" d="100"/>
          <a:sy n="85" d="100"/>
        </p:scale>
        <p:origin x="-232" y="-76"/>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&#65279;<?xml version="1.0" encoding="utf-8"?><Relationships xmlns="http://schemas.openxmlformats.org/package/2006/relationships"><Relationship Type="http://schemas.openxmlformats.org/officeDocument/2006/relationships/slide" Target="/ppt/slides/slide6.xml" Id="rId8" /><Relationship Type="http://schemas.openxmlformats.org/officeDocument/2006/relationships/presProps" Target="/ppt/presProps.xml" Id="rId13" /><Relationship Type="http://schemas.openxmlformats.org/officeDocument/2006/relationships/slide" Target="/ppt/slides/slide1.xml" Id="rId3" /><Relationship Type="http://schemas.openxmlformats.org/officeDocument/2006/relationships/slide" Target="/ppt/slides/slide5.xml" Id="rId7" /><Relationship Type="http://schemas.openxmlformats.org/officeDocument/2006/relationships/slide" Target="/ppt/slides/slide10.xml" Id="rId12" /><Relationship Type="http://schemas.openxmlformats.org/officeDocument/2006/relationships/tableStyles" Target="/ppt/tableStyles.xml" Id="rId16" /><Relationship Type="http://schemas.openxmlformats.org/officeDocument/2006/relationships/slideMaster" Target="/ppt/slideMasters/slideMaster1.xml" Id="rId1" /><Relationship Type="http://schemas.openxmlformats.org/officeDocument/2006/relationships/slide" Target="/ppt/slides/slide4.xml" Id="rId6" /><Relationship Type="http://schemas.openxmlformats.org/officeDocument/2006/relationships/slide" Target="/ppt/slides/slide9.xml" Id="rId11" /><Relationship Type="http://schemas.openxmlformats.org/officeDocument/2006/relationships/slide" Target="/ppt/slides/slide3.xml" Id="rId5" /><Relationship Type="http://schemas.openxmlformats.org/officeDocument/2006/relationships/theme" Target="/ppt/theme/theme1.xml" Id="rId15" /><Relationship Type="http://schemas.openxmlformats.org/officeDocument/2006/relationships/slide" Target="/ppt/slides/slide8.xml" Id="rId10" /><Relationship Type="http://schemas.openxmlformats.org/officeDocument/2006/relationships/slide" Target="/ppt/slides/slide2.xml" Id="rId4" /><Relationship Type="http://schemas.openxmlformats.org/officeDocument/2006/relationships/slide" Target="/ppt/slides/slide7.xml" Id="rId9" /><Relationship Type="http://schemas.openxmlformats.org/officeDocument/2006/relationships/viewProps" Target="/ppt/viewProps.xml" Id="rId14" /></Relationships>
</file>

<file path=ppt/slideLayouts/_rels/slideLayout1.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image" Target="/ppt/media/image4.png" Id="rId2" /><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image" Target="/ppt/media/image5.png" Id="rId2" /><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stretch/>
        </p:blipFill>
        <p:spPr>
          <a:xfrm>
            <a:off x="0" y="0"/>
            <a:ext cx="9143640" cy="5143320"/>
          </a:xfrm>
          <a:prstGeom prst="rect">
            <a:avLst/>
          </a:prstGeom>
          <a:noFill/>
          <a:ln w="0">
            <a:noFill/>
          </a:ln>
        </p:spPr>
      </p:pic>
      <p:sp>
        <p:nvSpPr>
          <p:cNvPr id="4" name="PlaceHolder 1"/>
          <p:cNvSpPr>
            <a:spLocks noGrp="1"/>
          </p:cNvSpPr>
          <p:nvPr>
            <p:ph type="title"/>
          </p:nvPr>
        </p:nvSpPr>
        <p:spPr>
          <a:xfrm>
            <a:off x="228600" y="4146840"/>
            <a:ext cx="8686440" cy="767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5" name="Google Shape;69;p14"/>
          <p:cNvPicPr/>
          <p:nvPr/>
        </p:nvPicPr>
        <p:blipFill>
          <a:blip r:embed="rId2"/>
          <a:stretch/>
        </p:blipFill>
        <p:spPr>
          <a:xfrm>
            <a:off x="0" y="0"/>
            <a:ext cx="9143640" cy="5142960"/>
          </a:xfrm>
          <a:prstGeom prst="rect">
            <a:avLst/>
          </a:prstGeom>
          <a:noFill/>
          <a:ln w="0">
            <a:noFill/>
          </a:ln>
        </p:spPr>
      </p:pic>
      <p:sp>
        <p:nvSpPr>
          <p:cNvPr id="16" name="PlaceHolder 1"/>
          <p:cNvSpPr>
            <a:spLocks noGrp="1"/>
          </p:cNvSpPr>
          <p:nvPr>
            <p:ph type="title"/>
          </p:nvPr>
        </p:nvSpPr>
        <p:spPr>
          <a:xfrm>
            <a:off x="713160" y="444960"/>
            <a:ext cx="7717320" cy="16455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8" name="Google Shape;73;p15"/>
          <p:cNvPicPr/>
          <p:nvPr/>
        </p:nvPicPr>
        <p:blipFill>
          <a:blip r:embed="rId2"/>
          <a:stretch/>
        </p:blipFill>
        <p:spPr>
          <a:xfrm>
            <a:off x="0" y="0"/>
            <a:ext cx="9143640" cy="5143320"/>
          </a:xfrm>
          <a:prstGeom prst="rect">
            <a:avLst/>
          </a:prstGeom>
          <a:noFill/>
          <a:ln w="0">
            <a:noFill/>
          </a:ln>
        </p:spPr>
      </p:pic>
      <p:sp>
        <p:nvSpPr>
          <p:cNvPr id="19" name="PlaceHolder 1"/>
          <p:cNvSpPr>
            <a:spLocks noGrp="1"/>
          </p:cNvSpPr>
          <p:nvPr>
            <p:ph type="title"/>
          </p:nvPr>
        </p:nvSpPr>
        <p:spPr>
          <a:xfrm>
            <a:off x="234720" y="228600"/>
            <a:ext cx="3735720" cy="18252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0" name="PlaceHolder 2"/>
          <p:cNvSpPr>
            <a:spLocks noGrp="1"/>
          </p:cNvSpPr>
          <p:nvPr>
            <p:ph type="body"/>
          </p:nvPr>
        </p:nvSpPr>
        <p:spPr>
          <a:xfrm>
            <a:off x="4384080" y="228240"/>
            <a:ext cx="4530960" cy="46861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theme/theme1.xml" Id="rId21"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5.xml" Id="rId5"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3" r:id="rId5"/>
    <p:sldLayoutId id="2147483654" r:id="rId6"/>
  </p:sldLayoutIdLst>
  <p:txStyles>
    <p:titleStyle/>
    <p:bodyStyle/>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image" Target="/ppt/media/image12.png" Id="rId2" /><Relationship Type="http://schemas.openxmlformats.org/officeDocument/2006/relationships/slideLayout" Target="/ppt/slideLayouts/slideLayout6.xml" Id="rId1" /></Relationships>
</file>

<file path=ppt/slides/_rels/slide3.xml.rels>&#65279;<?xml version="1.0" encoding="utf-8"?><Relationships xmlns="http://schemas.openxmlformats.org/package/2006/relationships"><Relationship Type="http://schemas.openxmlformats.org/officeDocument/2006/relationships/image" Target="/ppt/media/image13.png" Id="rId2" /><Relationship Type="http://schemas.openxmlformats.org/officeDocument/2006/relationships/slideLayout" Target="/ppt/slideLayouts/slideLayout5.xml" Id="rId1" /></Relationships>
</file>

<file path=ppt/slides/_rels/slide4.xml.rels>&#65279;<?xml version="1.0" encoding="utf-8"?><Relationships xmlns="http://schemas.openxmlformats.org/package/2006/relationships"><Relationship Type="http://schemas.openxmlformats.org/officeDocument/2006/relationships/image" Target="/ppt/media/image14.jpeg" Id="rId2" /><Relationship Type="http://schemas.openxmlformats.org/officeDocument/2006/relationships/slideLayout" Target="/ppt/slideLayouts/slideLayout5.xml" Id="rId1" /></Relationships>
</file>

<file path=ppt/slides/_rels/slide5.xml.rels>&#65279;<?xml version="1.0" encoding="utf-8"?><Relationships xmlns="http://schemas.openxmlformats.org/package/2006/relationships"><Relationship Type="http://schemas.openxmlformats.org/officeDocument/2006/relationships/image" Target="/ppt/media/image15.png" Id="rId2" /><Relationship Type="http://schemas.openxmlformats.org/officeDocument/2006/relationships/slideLayout" Target="/ppt/slideLayouts/slideLayout6.xml" Id="rId1" /></Relationships>
</file>

<file path=ppt/slides/_rels/slide6.xml.rels>&#65279;<?xml version="1.0" encoding="utf-8"?><Relationships xmlns="http://schemas.openxmlformats.org/package/2006/relationships"><Relationship Type="http://schemas.openxmlformats.org/officeDocument/2006/relationships/image" Target="/ppt/media/image16.jpeg" Id="rId2" /><Relationship Type="http://schemas.openxmlformats.org/officeDocument/2006/relationships/slideLayout" Target="/ppt/slideLayouts/slideLayout5.xml" Id="rId1" /></Relationships>
</file>

<file path=ppt/slides/_rels/slide7.xml.rels>&#65279;<?xml version="1.0" encoding="utf-8"?><Relationships xmlns="http://schemas.openxmlformats.org/package/2006/relationships"><Relationship Type="http://schemas.openxmlformats.org/officeDocument/2006/relationships/image" Target="/ppt/media/image17.jpeg" Id="rId2" /><Relationship Type="http://schemas.openxmlformats.org/officeDocument/2006/relationships/slideLayout" Target="/ppt/slideLayouts/slideLayout5.xml" Id="rId1" /></Relationships>
</file>

<file path=ppt/slides/_rels/slide8.xml.rels>&#65279;<?xml version="1.0" encoding="utf-8"?><Relationships xmlns="http://schemas.openxmlformats.org/package/2006/relationships"><Relationship Type="http://schemas.openxmlformats.org/officeDocument/2006/relationships/image" Target="/ppt/media/image18.png" Id="rId2" /><Relationship Type="http://schemas.openxmlformats.org/officeDocument/2006/relationships/slideLayout" Target="/ppt/slideLayouts/slideLayout5.xml" Id="rId1" /></Relationships>
</file>

<file path=ppt/slides/_rels/slide9.xml.rels>&#65279;<?xml version="1.0" encoding="utf-8"?><Relationships xmlns="http://schemas.openxmlformats.org/package/2006/relationships"><Relationship Type="http://schemas.openxmlformats.org/officeDocument/2006/relationships/image" Target="/ppt/media/image19.png" Id="rId2" /><Relationship Type="http://schemas.openxmlformats.org/officeDocument/2006/relationships/slideLayout" Target="/ppt/slideLayouts/slideLayout6.xml" Id="rId1" /></Relationships>
</file>

<file path=ppt/slides/_rels/slide10.xml.rels>&#65279;<?xml version="1.0" encoding="utf-8"?><Relationships xmlns="http://schemas.openxmlformats.org/package/2006/relationships"><Relationship Type="http://schemas.openxmlformats.org/officeDocument/2006/relationships/image" Target="/ppt/media/image20.png" Id="rId2" /><Relationship Type="http://schemas.openxmlformats.org/officeDocument/2006/relationships/slideLayout" Target="/ppt/slideLayouts/slideLayout5.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152400" y="742950"/>
            <a:ext cx="8686440" cy="137160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4000" b="1" u="none" strike="noStrike" dirty="0" smtClean="0">
                <a:solidFill>
                  <a:schemeClr val="dk1"/>
                </a:solidFill>
                <a:effectLst/>
                <a:uFillTx/>
                <a:latin typeface="Calibri" pitchFamily="34" charset="0"/>
                <a:ea typeface="Calibri" pitchFamily="34" charset="0"/>
                <a:cs typeface="Calibri" pitchFamily="34" charset="0"/>
              </a:rPr>
              <a:t>Fitness and Sports Tracker Python based project</a:t>
            </a:r>
            <a:endParaRPr lang="fr-FR" sz="4000" b="0" u="none" strike="noStrike" dirty="0">
              <a:solidFill>
                <a:schemeClr val="dk1"/>
              </a:solidFill>
              <a:effectLst/>
              <a:uFillTx/>
              <a:latin typeface="Calibri" pitchFamily="34" charset="0"/>
              <a:ea typeface="Calibri" pitchFamily="34" charset="0"/>
              <a:cs typeface="Calibri" pitchFamily="34" charset="0"/>
            </a:endParaRPr>
          </a:p>
        </p:txBody>
      </p:sp>
      <p:sp>
        <p:nvSpPr>
          <p:cNvPr id="63" name="PlaceHolder 2"/>
          <p:cNvSpPr>
            <a:spLocks noGrp="1"/>
          </p:cNvSpPr>
          <p:nvPr>
            <p:ph type="subTitle"/>
          </p:nvPr>
        </p:nvSpPr>
        <p:spPr>
          <a:xfrm>
            <a:off x="6400800" y="3638550"/>
            <a:ext cx="2362200" cy="1276350"/>
          </a:xfrm>
          <a:prstGeom prst="rect">
            <a:avLst/>
          </a:prstGeom>
          <a:noFill/>
          <a:ln w="0">
            <a:noFill/>
          </a:ln>
        </p:spPr>
        <p:txBody>
          <a:bodyPr lIns="91440" tIns="91440" rIns="91440" bIns="91440" anchor="t">
            <a:normAutofit lnSpcReduction="9999"/>
          </a:bodyPr>
          <a:lstStyle/>
          <a:p>
            <a:pPr indent="0" algn="ctr">
              <a:lnSpc>
                <a:spcPct val="100000"/>
              </a:lnSpc>
              <a:buNone/>
              <a:tabLst>
                <a:tab pos="0" algn="l"/>
              </a:tabLst>
            </a:pPr>
            <a:r>
              <a:rPr lang="en-US" sz="1400" b="0" u="none" strike="noStrike" dirty="0" smtClean="0">
                <a:solidFill>
                  <a:srgbClr val="FFFFFF"/>
                </a:solidFill>
                <a:effectLst/>
                <a:uFillTx/>
                <a:latin typeface="OpenSymbol"/>
              </a:rPr>
              <a:t>Team members</a:t>
            </a:r>
          </a:p>
          <a:p>
            <a:pPr indent="0" algn="ctr">
              <a:lnSpc>
                <a:spcPct val="100000"/>
              </a:lnSpc>
              <a:buNone/>
              <a:tabLst>
                <a:tab pos="0" algn="l"/>
              </a:tabLst>
            </a:pPr>
            <a:r>
              <a:rPr lang="en-US" sz="1400" dirty="0" smtClean="0">
                <a:solidFill>
                  <a:srgbClr val="FFFFFF"/>
                </a:solidFill>
                <a:latin typeface="OpenSymbol"/>
              </a:rPr>
              <a:t>Name &amp; university roll no:</a:t>
            </a:r>
            <a:endParaRPr lang="en-US" sz="1400" b="0" u="none" strike="noStrike" dirty="0" smtClean="0">
              <a:solidFill>
                <a:srgbClr val="FFFFFF"/>
              </a:solidFill>
              <a:effectLst/>
              <a:uFillTx/>
              <a:latin typeface="OpenSymbol"/>
            </a:endParaRPr>
          </a:p>
          <a:p>
            <a:pPr indent="0" algn="ctr">
              <a:lnSpc>
                <a:spcPct val="100000"/>
              </a:lnSpc>
              <a:buNone/>
              <a:tabLst>
                <a:tab pos="0" algn="l"/>
              </a:tabLst>
            </a:pPr>
            <a:endParaRPr lang="en-US" sz="1400" b="0" u="none" strike="noStrike" dirty="0" smtClean="0">
              <a:solidFill>
                <a:srgbClr val="FFFFFF"/>
              </a:solidFill>
              <a:effectLst/>
              <a:uFillTx/>
              <a:latin typeface="OpenSymbol"/>
            </a:endParaRPr>
          </a:p>
          <a:p>
            <a:pPr indent="0" algn="ctr">
              <a:lnSpc>
                <a:spcPct val="100000"/>
              </a:lnSpc>
              <a:buNone/>
              <a:tabLst>
                <a:tab pos="0" algn="l"/>
              </a:tabLst>
            </a:pPr>
            <a:r>
              <a:rPr lang="en-US" sz="1400" b="0" u="none" strike="noStrike" dirty="0" smtClean="0">
                <a:solidFill>
                  <a:srgbClr val="FFFFFF"/>
                </a:solidFill>
                <a:effectLst/>
                <a:uFillTx/>
                <a:latin typeface="OpenSymbol"/>
              </a:rPr>
              <a:t>Tanya 2330656</a:t>
            </a:r>
          </a:p>
          <a:p>
            <a:pPr indent="0" algn="ctr">
              <a:lnSpc>
                <a:spcPct val="100000"/>
              </a:lnSpc>
              <a:buNone/>
              <a:tabLst>
                <a:tab pos="0" algn="l"/>
              </a:tabLst>
            </a:pPr>
            <a:r>
              <a:rPr lang="en-US" sz="1400" dirty="0" err="1" smtClean="0">
                <a:solidFill>
                  <a:srgbClr val="FFFFFF"/>
                </a:solidFill>
                <a:latin typeface="OpenSymbol"/>
              </a:rPr>
              <a:t>Sumit</a:t>
            </a:r>
            <a:r>
              <a:rPr lang="en-US" sz="1400" dirty="0" smtClean="0">
                <a:solidFill>
                  <a:srgbClr val="FFFFFF"/>
                </a:solidFill>
                <a:latin typeface="OpenSymbol"/>
              </a:rPr>
              <a:t> </a:t>
            </a:r>
            <a:r>
              <a:rPr lang="en-US" sz="1400" dirty="0" err="1" smtClean="0">
                <a:solidFill>
                  <a:srgbClr val="FFFFFF"/>
                </a:solidFill>
                <a:latin typeface="OpenSymbol"/>
              </a:rPr>
              <a:t>bisht</a:t>
            </a:r>
            <a:r>
              <a:rPr lang="en-US" sz="1400" dirty="0" smtClean="0">
                <a:solidFill>
                  <a:srgbClr val="FFFFFF"/>
                </a:solidFill>
                <a:latin typeface="OpenSymbol"/>
              </a:rPr>
              <a:t> 2330655</a:t>
            </a:r>
          </a:p>
          <a:p>
            <a:pPr indent="0" algn="ctr">
              <a:lnSpc>
                <a:spcPct val="100000"/>
              </a:lnSpc>
              <a:buNone/>
              <a:tabLst>
                <a:tab pos="0" algn="l"/>
              </a:tabLst>
            </a:pPr>
            <a:r>
              <a:rPr lang="en-US" sz="1400" b="0" u="none" strike="noStrike" dirty="0" err="1" smtClean="0">
                <a:solidFill>
                  <a:srgbClr val="FFFFFF"/>
                </a:solidFill>
                <a:effectLst/>
                <a:uFillTx/>
                <a:latin typeface="OpenSymbol"/>
              </a:rPr>
              <a:t>Upender</a:t>
            </a:r>
            <a:r>
              <a:rPr lang="en-US" sz="1400" b="0" u="none" strike="noStrike" dirty="0" smtClean="0">
                <a:solidFill>
                  <a:srgbClr val="FFFFFF"/>
                </a:solidFill>
                <a:effectLst/>
                <a:uFillTx/>
                <a:latin typeface="OpenSymbol"/>
              </a:rPr>
              <a:t> 2330659</a:t>
            </a:r>
            <a:endParaRPr lang="en-US" sz="1400" b="0" u="none" strike="noStrike" dirty="0">
              <a:solidFill>
                <a:srgbClr val="FFFFFF"/>
              </a:solidFill>
              <a:effectLst/>
              <a:uFillTx/>
              <a:latin typeface="OpenSymbol"/>
            </a:endParaRPr>
          </a:p>
        </p:txBody>
      </p:sp>
      <p:sp>
        <p:nvSpPr>
          <p:cNvPr id="6" name="TextBox 5"/>
          <p:cNvSpPr txBox="1"/>
          <p:nvPr/>
        </p:nvSpPr>
        <p:spPr>
          <a:xfrm>
            <a:off x="838200" y="2495550"/>
            <a:ext cx="7199407" cy="523220"/>
          </a:xfrm>
          <a:prstGeom prst="rect">
            <a:avLst/>
          </a:prstGeom>
          <a:noFill/>
        </p:spPr>
        <p:txBody>
          <a:bodyPr wrap="square" rtlCol="0">
            <a:spAutoFit/>
          </a:bodyPr>
          <a:lstStyle/>
          <a:p>
            <a:pPr algn="ctr"/>
            <a:r>
              <a:rPr lang="en-US" sz="1400" b="0" u="none" strike="noStrike" dirty="0" smtClean="0">
                <a:solidFill>
                  <a:schemeClr val="dk1"/>
                </a:solidFill>
                <a:effectLst/>
                <a:uFillTx/>
                <a:latin typeface="Calibri" pitchFamily="34" charset="0"/>
                <a:ea typeface="Calibri" pitchFamily="34" charset="0"/>
                <a:cs typeface="Calibri" pitchFamily="34" charset="0"/>
              </a:rPr>
              <a:t>Let's explore how wearable technology is revolutionizing the way we track our health and fitness goals."</a:t>
            </a:r>
            <a:endParaRPr lang="en-US" sz="1400" dirty="0">
              <a:latin typeface="Calibri" pitchFamily="34" charset="0"/>
              <a:ea typeface="Calibri" pitchFamily="34" charset="0"/>
              <a:cs typeface="Calibri" pitchFamily="34" charset="0"/>
            </a:endParaRPr>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237960" y="228600"/>
            <a:ext cx="3733560" cy="1828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yne"/>
                <a:ea typeface="Syne"/>
              </a:rPr>
              <a:t>Introduction</a:t>
            </a:r>
            <a:endParaRPr lang="fr-FR" sz="2600" b="0" u="none" strike="noStrike" dirty="0">
              <a:solidFill>
                <a:schemeClr val="dk1"/>
              </a:solidFill>
              <a:effectLst/>
              <a:uFillTx/>
              <a:latin typeface="Arial"/>
            </a:endParaRPr>
          </a:p>
        </p:txBody>
      </p:sp>
      <p:sp>
        <p:nvSpPr>
          <p:cNvPr id="65" name="PlaceHolder 2"/>
          <p:cNvSpPr>
            <a:spLocks noGrp="1"/>
          </p:cNvSpPr>
          <p:nvPr>
            <p:ph type="subTitle"/>
          </p:nvPr>
        </p:nvSpPr>
        <p:spPr>
          <a:xfrm>
            <a:off x="228600" y="971550"/>
            <a:ext cx="3733560" cy="3942810"/>
          </a:xfrm>
          <a:prstGeom prst="rect">
            <a:avLst/>
          </a:prstGeom>
          <a:noFill/>
          <a:ln w="0">
            <a:noFill/>
          </a:ln>
        </p:spPr>
        <p:txBody>
          <a:bodyPr lIns="91440" tIns="91440" rIns="91440" bIns="91440" anchor="b">
            <a:normAutofit fontScale="92500"/>
          </a:bodyPr>
          <a:lstStyle/>
          <a:p>
            <a:pPr indent="0">
              <a:lnSpc>
                <a:spcPct val="120000"/>
              </a:lnSpc>
              <a:buNone/>
              <a:tabLst>
                <a:tab pos="0" algn="l"/>
              </a:tabLst>
            </a:pPr>
            <a:r>
              <a:rPr lang="en-US" sz="1200" b="0" u="none" strike="noStrike" dirty="0" smtClean="0">
                <a:solidFill>
                  <a:schemeClr val="dk1"/>
                </a:solidFill>
                <a:effectLst/>
                <a:uFillTx/>
                <a:latin typeface="Inter Light"/>
                <a:ea typeface="Inter Light"/>
              </a:rPr>
              <a:t>"</a:t>
            </a:r>
            <a:r>
              <a:rPr lang="en-US" sz="1500" b="0" u="none" strike="noStrike" dirty="0" smtClean="0">
                <a:solidFill>
                  <a:schemeClr val="dk1"/>
                </a:solidFill>
                <a:effectLst/>
                <a:uFillTx/>
                <a:latin typeface="Calibri" pitchFamily="34" charset="0"/>
                <a:ea typeface="Calibri" pitchFamily="34" charset="0"/>
                <a:cs typeface="Calibri" pitchFamily="34" charset="0"/>
              </a:rPr>
              <a:t>Welcome to our presentation on Fitness and Sports Trackers. Let's explore how wearable technology is revolutionizing the way we track our health and fitness goals Revolutionizing fitness with wearable technology: tracking progress, achieving goals, and empowering a healthier lifestyle through data-driven insights and personalized feedback.</a:t>
            </a:r>
          </a:p>
          <a:p>
            <a:pPr indent="0">
              <a:lnSpc>
                <a:spcPct val="120000"/>
              </a:lnSpc>
              <a:buNone/>
              <a:tabLst>
                <a:tab pos="0" algn="l"/>
              </a:tabLst>
            </a:pPr>
            <a:r>
              <a:rPr lang="en-US" sz="1500" b="0" u="none" strike="noStrike" dirty="0" smtClean="0">
                <a:solidFill>
                  <a:schemeClr val="dk1"/>
                </a:solidFill>
                <a:effectLst/>
                <a:uFillTx/>
                <a:latin typeface="Calibri" pitchFamily="34" charset="0"/>
                <a:ea typeface="Calibri" pitchFamily="34" charset="0"/>
                <a:cs typeface="Calibri" pitchFamily="34" charset="0"/>
              </a:rPr>
              <a:t>This </a:t>
            </a:r>
            <a:r>
              <a:rPr lang="en-US" sz="1500" b="0" u="none" strike="noStrike" dirty="0">
                <a:solidFill>
                  <a:schemeClr val="dk1"/>
                </a:solidFill>
                <a:effectLst/>
                <a:uFillTx/>
                <a:latin typeface="Calibri" pitchFamily="34" charset="0"/>
                <a:ea typeface="Calibri" pitchFamily="34" charset="0"/>
                <a:cs typeface="Calibri" pitchFamily="34" charset="0"/>
              </a:rPr>
              <a:t>presentation outlines the development of a </a:t>
            </a:r>
            <a:r>
              <a:rPr lang="en-US" sz="1500" b="1" u="none" strike="noStrike" dirty="0">
                <a:solidFill>
                  <a:schemeClr val="dk1"/>
                </a:solidFill>
                <a:effectLst/>
                <a:uFillTx/>
                <a:latin typeface="Calibri" pitchFamily="34" charset="0"/>
                <a:ea typeface="Calibri" pitchFamily="34" charset="0"/>
                <a:cs typeface="Calibri" pitchFamily="34" charset="0"/>
              </a:rPr>
              <a:t>Fitness and Sports Tracker</a:t>
            </a:r>
            <a:r>
              <a:rPr lang="en-US" sz="1500" b="0" u="none" strike="noStrike" dirty="0">
                <a:solidFill>
                  <a:schemeClr val="dk1"/>
                </a:solidFill>
                <a:effectLst/>
                <a:uFillTx/>
                <a:latin typeface="Calibri" pitchFamily="34" charset="0"/>
                <a:ea typeface="Calibri" pitchFamily="34" charset="0"/>
                <a:cs typeface="Calibri" pitchFamily="34" charset="0"/>
              </a:rPr>
              <a:t> using Python. We will explore its objectives, core functionalities, and technical implementation to deliver a robust solution for athletes and fitness enthusiasts. </a:t>
            </a:r>
            <a:endParaRPr lang="en-US" sz="1500" b="0" u="none" strike="noStrike" dirty="0" smtClean="0">
              <a:solidFill>
                <a:schemeClr val="dk1"/>
              </a:solidFill>
              <a:effectLst/>
              <a:uFillTx/>
              <a:latin typeface="Calibri" pitchFamily="34" charset="0"/>
              <a:ea typeface="Calibri" pitchFamily="34" charset="0"/>
              <a:cs typeface="Calibri" pitchFamily="34" charset="0"/>
            </a:endParaRPr>
          </a:p>
        </p:txBody>
      </p:sp>
      <p:pic>
        <p:nvPicPr>
          <p:cNvPr id="66" name="Google Shape;213;p31"/>
          <p:cNvPicPr/>
          <p:nvPr/>
        </p:nvPicPr>
        <p:blipFill>
          <a:blip r:embed="rId2"/>
          <a:srcRect l="33152" t="13264" r="11933"/>
          <a:stretch/>
        </p:blipFill>
        <p:spPr>
          <a:xfrm>
            <a:off x="4384080" y="228240"/>
            <a:ext cx="4530960" cy="4686120"/>
          </a:xfrm>
          <a:prstGeom prst="rect">
            <a:avLst/>
          </a:prstGeom>
          <a:noFill/>
          <a:ln w="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76200" y="209550"/>
            <a:ext cx="4695960" cy="4495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yne"/>
                <a:ea typeface="Syne"/>
              </a:rPr>
              <a:t>Project </a:t>
            </a:r>
            <a:r>
              <a:rPr lang="en-US" sz="2600" b="1" u="none" strike="noStrike" dirty="0" smtClean="0">
                <a:solidFill>
                  <a:schemeClr val="dk1"/>
                </a:solidFill>
                <a:effectLst/>
                <a:uFillTx/>
                <a:latin typeface="Syne"/>
                <a:ea typeface="Syne"/>
              </a:rPr>
              <a:t>Overview</a:t>
            </a:r>
            <a:br>
              <a:rPr lang="en-US" sz="2600" b="1" u="none" strike="noStrike" dirty="0" smtClean="0">
                <a:solidFill>
                  <a:schemeClr val="dk1"/>
                </a:solidFill>
                <a:effectLst/>
                <a:uFillTx/>
                <a:latin typeface="Syne"/>
                <a:ea typeface="Syne"/>
              </a:rPr>
            </a:br>
            <a:r>
              <a:rPr lang="en-US" sz="2600" b="1" u="none" strike="noStrike" dirty="0" smtClean="0">
                <a:solidFill>
                  <a:schemeClr val="dk1"/>
                </a:solidFill>
                <a:effectLst/>
                <a:uFillTx/>
                <a:latin typeface="Syne"/>
                <a:ea typeface="Syne"/>
              </a:rPr>
              <a:t/>
            </a:r>
            <a:br>
              <a:rPr lang="en-US" sz="2600" b="1" u="none" strike="noStrike" dirty="0" smtClean="0">
                <a:solidFill>
                  <a:schemeClr val="dk1"/>
                </a:solidFill>
                <a:effectLst/>
                <a:uFillTx/>
                <a:latin typeface="Syne"/>
                <a:ea typeface="Syne"/>
              </a:rPr>
            </a:br>
            <a:r>
              <a:rPr lang="en-US" sz="1400" u="none" strike="noStrike" dirty="0" smtClean="0">
                <a:solidFill>
                  <a:schemeClr val="dk1"/>
                </a:solidFill>
                <a:effectLst/>
                <a:uFillTx/>
                <a:latin typeface="Calibri" pitchFamily="34" charset="0"/>
                <a:ea typeface="Calibri" pitchFamily="34" charset="0"/>
                <a:cs typeface="Calibri" pitchFamily="34" charset="0"/>
              </a:rPr>
              <a:t>This project explores the role of fitness trackers in promoting physical activity and improving health outcomes. It provides a comprehensive overview of fitness tracking technology, its applications, benefits, and limitations, and discusses potential future directions for innovation and research.</a:t>
            </a:r>
            <a:br>
              <a:rPr lang="en-US" sz="1400" u="none" strike="noStrike" dirty="0" smtClean="0">
                <a:solidFill>
                  <a:schemeClr val="dk1"/>
                </a:solidFill>
                <a:effectLst/>
                <a:uFillTx/>
                <a:latin typeface="Calibri" pitchFamily="34" charset="0"/>
                <a:ea typeface="Calibri" pitchFamily="34" charset="0"/>
                <a:cs typeface="Calibri" pitchFamily="34" charset="0"/>
              </a:rPr>
            </a:br>
            <a:r>
              <a:rPr lang="en-US" sz="1400" u="none" strike="noStrike" dirty="0" smtClean="0">
                <a:solidFill>
                  <a:schemeClr val="dk1"/>
                </a:solidFill>
                <a:effectLst/>
                <a:uFillTx/>
                <a:latin typeface="Calibri" pitchFamily="34" charset="0"/>
                <a:ea typeface="Calibri" pitchFamily="34" charset="0"/>
                <a:cs typeface="Calibri" pitchFamily="34" charset="0"/>
              </a:rPr>
              <a:t>This project examines the impact of wearable fitness trackers on individual health and wellness, highlighting their benefits, limitations, and potential applications in healthcare and sports, to inform future development and research.</a:t>
            </a:r>
            <a:endParaRPr lang="fr-FR" sz="1400" u="none" strike="noStrike" dirty="0">
              <a:solidFill>
                <a:schemeClr val="dk1"/>
              </a:solidFill>
              <a:effectLst/>
              <a:uFillTx/>
              <a:latin typeface="Calibri" pitchFamily="34" charset="0"/>
              <a:ea typeface="Calibri" pitchFamily="34" charset="0"/>
              <a:cs typeface="Calibri" pitchFamily="34" charset="0"/>
            </a:endParaRPr>
          </a:p>
        </p:txBody>
      </p:sp>
      <p:pic>
        <p:nvPicPr>
          <p:cNvPr id="10242" name="Picture 2" descr="An example of personal activity tracker app"/>
          <p:cNvPicPr>
            <a:picLocks noChangeAspect="1" noChangeArrowheads="1"/>
          </p:cNvPicPr>
          <p:nvPr/>
        </p:nvPicPr>
        <p:blipFill>
          <a:blip r:embed="rId2" cstate="print"/>
          <a:srcRect/>
          <a:stretch>
            <a:fillRect/>
          </a:stretch>
        </p:blipFill>
        <p:spPr bwMode="auto">
          <a:xfrm>
            <a:off x="4800600" y="971550"/>
            <a:ext cx="4191000" cy="3810001"/>
          </a:xfrm>
          <a:prstGeom prst="rect">
            <a:avLst/>
          </a:prstGeom>
          <a:noFill/>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52400" y="447840"/>
            <a:ext cx="8276640" cy="1647360"/>
          </a:xfrm>
          <a:prstGeom prst="rect">
            <a:avLst/>
          </a:prstGeom>
          <a:noFill/>
          <a:ln w="0">
            <a:noFill/>
          </a:ln>
        </p:spPr>
        <p:txBody>
          <a:bodyPr lIns="91440" tIns="91440" rIns="91440" bIns="91440" anchor="t">
            <a:normAutofit/>
          </a:bodyPr>
          <a:lstStyle/>
          <a:p>
            <a:pPr indent="0" algn="l">
              <a:lnSpc>
                <a:spcPct val="100000"/>
              </a:lnSpc>
              <a:buNone/>
              <a:tabLst>
                <a:tab pos="0" algn="l"/>
              </a:tabLst>
            </a:pPr>
            <a:r>
              <a:rPr lang="en-US" sz="2600" b="1" u="none" strike="noStrike" dirty="0">
                <a:solidFill>
                  <a:schemeClr val="dk1"/>
                </a:solidFill>
                <a:effectLst/>
                <a:uFillTx/>
                <a:latin typeface="Syne"/>
                <a:ea typeface="Syne"/>
              </a:rPr>
              <a:t>Objectives and </a:t>
            </a:r>
            <a:r>
              <a:rPr lang="en-US" sz="2600" b="1" u="none" strike="noStrike" dirty="0" smtClean="0">
                <a:solidFill>
                  <a:schemeClr val="dk1"/>
                </a:solidFill>
                <a:effectLst/>
                <a:uFillTx/>
                <a:latin typeface="Syne"/>
                <a:ea typeface="Syne"/>
              </a:rPr>
              <a:t>Scope</a:t>
            </a:r>
            <a:br>
              <a:rPr lang="en-US" sz="2600" b="1" u="none" strike="noStrike" dirty="0" smtClean="0">
                <a:solidFill>
                  <a:schemeClr val="dk1"/>
                </a:solidFill>
                <a:effectLst/>
                <a:uFillTx/>
                <a:latin typeface="Syne"/>
                <a:ea typeface="Syne"/>
              </a:rPr>
            </a:br>
            <a:r>
              <a:rPr lang="en-US" sz="2600" b="1" dirty="0">
                <a:solidFill>
                  <a:schemeClr val="dk1"/>
                </a:solidFill>
                <a:latin typeface="Syne"/>
                <a:ea typeface="Syne"/>
              </a:rPr>
              <a:t/>
            </a:r>
            <a:br>
              <a:rPr lang="en-US" sz="2600" b="1" dirty="0">
                <a:solidFill>
                  <a:schemeClr val="dk1"/>
                </a:solidFill>
                <a:latin typeface="Syne"/>
                <a:ea typeface="Syne"/>
              </a:rPr>
            </a:br>
            <a:endParaRPr lang="fr-FR" sz="2600" b="0" u="none" strike="noStrike" dirty="0">
              <a:solidFill>
                <a:schemeClr val="dk1"/>
              </a:solidFill>
              <a:effectLst/>
              <a:uFillTx/>
              <a:latin typeface="Arial"/>
            </a:endParaRPr>
          </a:p>
        </p:txBody>
      </p:sp>
      <p:sp>
        <p:nvSpPr>
          <p:cNvPr id="70" name="PlaceHolder 2"/>
          <p:cNvSpPr>
            <a:spLocks noGrp="1"/>
          </p:cNvSpPr>
          <p:nvPr>
            <p:ph type="subTitle"/>
          </p:nvPr>
        </p:nvSpPr>
        <p:spPr>
          <a:xfrm>
            <a:off x="0" y="1123950"/>
            <a:ext cx="5276520" cy="180936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400" b="0" u="none" strike="noStrike" dirty="0">
                <a:solidFill>
                  <a:schemeClr val="dk1"/>
                </a:solidFill>
                <a:effectLst/>
                <a:uFillTx/>
                <a:latin typeface="Calibri" pitchFamily="34" charset="0"/>
                <a:ea typeface="Calibri" pitchFamily="34" charset="0"/>
                <a:cs typeface="Calibri" pitchFamily="34" charset="0"/>
              </a:rPr>
              <a:t>The project aims to create a reliable sports and fitness tracking application that helps users monitor their physical activities. The scope includes tracking metrics like steps, heart rate, and calories burned. It targets users ranging from casual exercisers to serious athletes looking for performance insights.</a:t>
            </a:r>
            <a:endParaRPr lang="en-US" sz="1400" b="0" u="none" strike="noStrike" dirty="0">
              <a:solidFill>
                <a:srgbClr val="FFFFFF"/>
              </a:solidFill>
              <a:effectLst/>
              <a:uFillTx/>
              <a:latin typeface="Calibri" pitchFamily="34" charset="0"/>
              <a:ea typeface="Calibri" pitchFamily="34" charset="0"/>
              <a:cs typeface="Calibri" pitchFamily="34" charset="0"/>
            </a:endParaRPr>
          </a:p>
        </p:txBody>
      </p:sp>
      <p:pic>
        <p:nvPicPr>
          <p:cNvPr id="4" name="Picture 3" descr="tann.jpg"/>
          <p:cNvPicPr>
            <a:picLocks noChangeAspect="1"/>
          </p:cNvPicPr>
          <p:nvPr/>
        </p:nvPicPr>
        <p:blipFill>
          <a:blip r:embed="rId2"/>
          <a:stretch>
            <a:fillRect/>
          </a:stretch>
        </p:blipFill>
        <p:spPr>
          <a:xfrm>
            <a:off x="5486400" y="1123950"/>
            <a:ext cx="3427661" cy="3790950"/>
          </a:xfrm>
          <a:prstGeom prst="rect">
            <a:avLst/>
          </a:prstGeom>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37960" y="228600"/>
            <a:ext cx="3733560" cy="1828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Key Features</a:t>
            </a:r>
            <a:endParaRPr lang="fr-FR" sz="2600" b="0" u="none" strike="noStrike">
              <a:solidFill>
                <a:schemeClr val="dk1"/>
              </a:solidFill>
              <a:effectLst/>
              <a:uFillTx/>
              <a:latin typeface="Arial"/>
            </a:endParaRPr>
          </a:p>
        </p:txBody>
      </p:sp>
      <p:sp>
        <p:nvSpPr>
          <p:cNvPr id="72" name="PlaceHolder 2"/>
          <p:cNvSpPr>
            <a:spLocks noGrp="1"/>
          </p:cNvSpPr>
          <p:nvPr>
            <p:ph type="subTitle"/>
          </p:nvPr>
        </p:nvSpPr>
        <p:spPr>
          <a:xfrm>
            <a:off x="228600" y="742950"/>
            <a:ext cx="3733560" cy="4171410"/>
          </a:xfrm>
          <a:prstGeom prst="rect">
            <a:avLst/>
          </a:prstGeom>
          <a:noFill/>
          <a:ln w="0">
            <a:noFill/>
          </a:ln>
        </p:spPr>
        <p:txBody>
          <a:bodyPr lIns="91440" tIns="91440" rIns="91440" bIns="91440" anchor="b">
            <a:noAutofit/>
          </a:bodyPr>
          <a:lstStyle/>
          <a:p>
            <a:pPr indent="0">
              <a:lnSpc>
                <a:spcPct val="120000"/>
              </a:lnSpc>
              <a:buNone/>
              <a:tabLst>
                <a:tab pos="0" algn="l"/>
              </a:tabLst>
            </a:pPr>
            <a:r>
              <a:rPr lang="en-US" sz="1400" b="0" u="none" strike="noStrike" dirty="0">
                <a:solidFill>
                  <a:schemeClr val="dk1"/>
                </a:solidFill>
                <a:effectLst/>
                <a:uFillTx/>
                <a:latin typeface="Calibri" pitchFamily="34" charset="0"/>
                <a:ea typeface="Calibri" pitchFamily="34" charset="0"/>
                <a:cs typeface="Calibri" pitchFamily="34" charset="0"/>
              </a:rPr>
              <a:t>Key features include real-time data collection from sensors, precise activity recognition, and detailed analytics. The tracker supports customizable workout settings, progress </a:t>
            </a:r>
            <a:r>
              <a:rPr lang="en-US" sz="1400" b="0" u="none" strike="noStrike" dirty="0" smtClean="0">
                <a:solidFill>
                  <a:schemeClr val="dk1"/>
                </a:solidFill>
                <a:effectLst/>
                <a:uFillTx/>
                <a:latin typeface="Calibri" pitchFamily="34" charset="0"/>
                <a:ea typeface="Calibri" pitchFamily="34" charset="0"/>
                <a:cs typeface="Calibri" pitchFamily="34" charset="0"/>
              </a:rPr>
              <a:t>visualization, and motivational alerts. </a:t>
            </a:r>
            <a:endParaRPr lang="en-US" sz="1400" b="0" u="none" strike="noStrike" dirty="0" smtClean="0">
              <a:solidFill>
                <a:schemeClr val="dk1"/>
              </a:solidFill>
              <a:effectLst/>
              <a:uFillTx/>
              <a:latin typeface="Calibri" pitchFamily="34" charset="0"/>
              <a:ea typeface="Calibri" pitchFamily="34" charset="0"/>
              <a:cs typeface="Calibri" pitchFamily="34" charset="0"/>
            </a:endParaRPr>
          </a:p>
          <a:p>
            <a:pPr marL="342900" indent="-342900">
              <a:lnSpc>
                <a:spcPct val="120000"/>
              </a:lnSpc>
              <a:buAutoNum type="arabicPeriod"/>
              <a:tabLst>
                <a:tab pos="0" algn="l"/>
              </a:tabLst>
            </a:pPr>
            <a:r>
              <a:rPr lang="en-US" sz="1400" b="0" u="none" strike="noStrike" dirty="0" smtClean="0">
                <a:solidFill>
                  <a:srgbClr val="FFFFFF"/>
                </a:solidFill>
                <a:effectLst/>
                <a:uFillTx/>
                <a:latin typeface="Calibri" pitchFamily="34" charset="0"/>
                <a:ea typeface="Calibri" pitchFamily="34" charset="0"/>
                <a:cs typeface="Calibri" pitchFamily="34" charset="0"/>
              </a:rPr>
              <a:t>Step </a:t>
            </a:r>
            <a:r>
              <a:rPr lang="en-US" sz="1400" b="0" u="none" strike="noStrike" dirty="0" smtClean="0">
                <a:solidFill>
                  <a:srgbClr val="FFFFFF"/>
                </a:solidFill>
                <a:effectLst/>
                <a:uFillTx/>
                <a:latin typeface="Calibri" pitchFamily="34" charset="0"/>
                <a:ea typeface="Calibri" pitchFamily="34" charset="0"/>
                <a:cs typeface="Calibri" pitchFamily="34" charset="0"/>
              </a:rPr>
              <a:t>Tracking: Monitoring daily activity and step count</a:t>
            </a:r>
            <a:r>
              <a:rPr lang="en-US" sz="1400" b="0" u="none" strike="noStrike" dirty="0" smtClean="0">
                <a:solidFill>
                  <a:srgbClr val="FFFFFF"/>
                </a:solidFill>
                <a:effectLst/>
                <a:uFillTx/>
                <a:latin typeface="Calibri" pitchFamily="34" charset="0"/>
                <a:ea typeface="Calibri" pitchFamily="34" charset="0"/>
                <a:cs typeface="Calibri" pitchFamily="34" charset="0"/>
              </a:rPr>
              <a:t>.</a:t>
            </a:r>
          </a:p>
          <a:p>
            <a:pPr marL="342900" indent="-342900">
              <a:lnSpc>
                <a:spcPct val="120000"/>
              </a:lnSpc>
              <a:buAutoNum type="arabicPeriod"/>
              <a:tabLst>
                <a:tab pos="0" algn="l"/>
              </a:tabLst>
            </a:pPr>
            <a:r>
              <a:rPr lang="en-US" sz="1400" b="0" u="none" strike="noStrike" dirty="0" smtClean="0">
                <a:solidFill>
                  <a:srgbClr val="FFFFFF"/>
                </a:solidFill>
                <a:effectLst/>
                <a:uFillTx/>
                <a:latin typeface="Calibri" pitchFamily="34" charset="0"/>
                <a:ea typeface="Calibri" pitchFamily="34" charset="0"/>
                <a:cs typeface="Calibri" pitchFamily="34" charset="0"/>
              </a:rPr>
              <a:t>2</a:t>
            </a:r>
            <a:r>
              <a:rPr lang="en-US" sz="1400" b="0" u="none" strike="noStrike" dirty="0" smtClean="0">
                <a:solidFill>
                  <a:srgbClr val="FFFFFF"/>
                </a:solidFill>
                <a:effectLst/>
                <a:uFillTx/>
                <a:latin typeface="Calibri" pitchFamily="34" charset="0"/>
                <a:ea typeface="Calibri" pitchFamily="34" charset="0"/>
                <a:cs typeface="Calibri" pitchFamily="34" charset="0"/>
              </a:rPr>
              <a:t>. Distance Tracking: Measuring distance traveled during walks, runs, or other </a:t>
            </a:r>
            <a:r>
              <a:rPr lang="en-US" sz="1400" b="0" u="none" strike="noStrike" dirty="0" smtClean="0">
                <a:solidFill>
                  <a:srgbClr val="FFFFFF"/>
                </a:solidFill>
                <a:effectLst/>
                <a:uFillTx/>
                <a:latin typeface="Calibri" pitchFamily="34" charset="0"/>
                <a:ea typeface="Calibri" pitchFamily="34" charset="0"/>
                <a:cs typeface="Calibri" pitchFamily="34" charset="0"/>
              </a:rPr>
              <a:t>activities.</a:t>
            </a:r>
          </a:p>
          <a:p>
            <a:pPr marL="342900" indent="-342900">
              <a:lnSpc>
                <a:spcPct val="120000"/>
              </a:lnSpc>
              <a:buAutoNum type="arabicPeriod"/>
              <a:tabLst>
                <a:tab pos="0" algn="l"/>
              </a:tabLst>
            </a:pPr>
            <a:r>
              <a:rPr lang="en-US" sz="1400" b="0" u="none" strike="noStrike" dirty="0" smtClean="0">
                <a:solidFill>
                  <a:srgbClr val="FFFFFF"/>
                </a:solidFill>
                <a:effectLst/>
                <a:uFillTx/>
                <a:latin typeface="Calibri" pitchFamily="34" charset="0"/>
                <a:ea typeface="Calibri" pitchFamily="34" charset="0"/>
                <a:cs typeface="Calibri" pitchFamily="34" charset="0"/>
              </a:rPr>
              <a:t>3</a:t>
            </a:r>
            <a:r>
              <a:rPr lang="en-US" sz="1400" b="0" u="none" strike="noStrike" dirty="0" smtClean="0">
                <a:solidFill>
                  <a:srgbClr val="FFFFFF"/>
                </a:solidFill>
                <a:effectLst/>
                <a:uFillTx/>
                <a:latin typeface="Calibri" pitchFamily="34" charset="0"/>
                <a:ea typeface="Calibri" pitchFamily="34" charset="0"/>
                <a:cs typeface="Calibri" pitchFamily="34" charset="0"/>
              </a:rPr>
              <a:t>. Calorie Burn Tracking: Estimating calories burned based on activity </a:t>
            </a:r>
            <a:r>
              <a:rPr lang="en-US" sz="1400" b="0" u="none" strike="noStrike" dirty="0" smtClean="0">
                <a:solidFill>
                  <a:srgbClr val="FFFFFF"/>
                </a:solidFill>
                <a:effectLst/>
                <a:uFillTx/>
                <a:latin typeface="Calibri" pitchFamily="34" charset="0"/>
                <a:ea typeface="Calibri" pitchFamily="34" charset="0"/>
                <a:cs typeface="Calibri" pitchFamily="34" charset="0"/>
              </a:rPr>
              <a:t>level.</a:t>
            </a:r>
            <a:endParaRPr lang="en-US" sz="1400" b="0" u="none" strike="noStrike" dirty="0">
              <a:solidFill>
                <a:srgbClr val="FFFFFF"/>
              </a:solidFill>
              <a:effectLst/>
              <a:uFillTx/>
              <a:latin typeface="Calibri" pitchFamily="34" charset="0"/>
              <a:ea typeface="Calibri" pitchFamily="34" charset="0"/>
              <a:cs typeface="Calibri" pitchFamily="34" charset="0"/>
            </a:endParaRPr>
          </a:p>
        </p:txBody>
      </p:sp>
      <p:pic>
        <p:nvPicPr>
          <p:cNvPr id="73" name="Google Shape;213;p31"/>
          <p:cNvPicPr/>
          <p:nvPr/>
        </p:nvPicPr>
        <p:blipFill>
          <a:blip r:embed="rId2"/>
          <a:srcRect l="33152" t="13264" r="11933"/>
          <a:stretch/>
        </p:blipFill>
        <p:spPr>
          <a:xfrm>
            <a:off x="4384080" y="742950"/>
            <a:ext cx="4530960" cy="4171410"/>
          </a:xfrm>
          <a:prstGeom prst="rect">
            <a:avLst/>
          </a:prstGeom>
          <a:noFill/>
          <a:ln w="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447840"/>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Target Users</a:t>
            </a:r>
            <a:endParaRPr lang="fr-FR" sz="2600" b="0" u="none" strike="noStrike">
              <a:solidFill>
                <a:schemeClr val="dk1"/>
              </a:solidFill>
              <a:effectLst/>
              <a:uFillTx/>
              <a:latin typeface="Arial"/>
            </a:endParaRPr>
          </a:p>
        </p:txBody>
      </p:sp>
      <p:sp>
        <p:nvSpPr>
          <p:cNvPr id="75" name="PlaceHolder 2"/>
          <p:cNvSpPr>
            <a:spLocks noGrp="1"/>
          </p:cNvSpPr>
          <p:nvPr>
            <p:ph type="subTitle"/>
          </p:nvPr>
        </p:nvSpPr>
        <p:spPr>
          <a:xfrm>
            <a:off x="3657600" y="1352550"/>
            <a:ext cx="5276520" cy="180936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400" b="0" u="none" strike="noStrike" dirty="0">
                <a:solidFill>
                  <a:schemeClr val="dk1"/>
                </a:solidFill>
                <a:effectLst/>
                <a:uFillTx/>
                <a:latin typeface="Calibri" pitchFamily="34" charset="0"/>
                <a:ea typeface="Calibri" pitchFamily="34" charset="0"/>
                <a:cs typeface="Calibri" pitchFamily="34" charset="0"/>
              </a:rPr>
              <a:t>The primary users of the fitness tracker range from casual fitness enthusiasts to professional athletes seeking detailed performance data. This tool is designed to accommodate varying fitness levels, offering insights that help optimize training routines. It also targets health-conscious individuals interested in monitoring daily activity and improving their wellness effectively.</a:t>
            </a:r>
            <a:endParaRPr lang="en-US" sz="1400" b="0" u="none" strike="noStrike" dirty="0">
              <a:solidFill>
                <a:srgbClr val="FFFFFF"/>
              </a:solidFill>
              <a:effectLst/>
              <a:uFillTx/>
              <a:latin typeface="Calibri" pitchFamily="34" charset="0"/>
              <a:ea typeface="Calibri" pitchFamily="34" charset="0"/>
              <a:cs typeface="Calibri" pitchFamily="34" charset="0"/>
            </a:endParaRPr>
          </a:p>
        </p:txBody>
      </p:sp>
      <p:pic>
        <p:nvPicPr>
          <p:cNvPr id="4" name="Picture 3" descr="tanya.jpg"/>
          <p:cNvPicPr>
            <a:picLocks noChangeAspect="1"/>
          </p:cNvPicPr>
          <p:nvPr/>
        </p:nvPicPr>
        <p:blipFill>
          <a:blip r:embed="rId2"/>
          <a:stretch>
            <a:fillRect/>
          </a:stretch>
        </p:blipFill>
        <p:spPr>
          <a:xfrm>
            <a:off x="228600" y="1200150"/>
            <a:ext cx="3427661" cy="3638550"/>
          </a:xfrm>
          <a:prstGeom prst="rect">
            <a:avLst/>
          </a:prstGeom>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228600" y="447840"/>
            <a:ext cx="4876800" cy="164736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2600" b="1" u="none" strike="noStrike" dirty="0">
                <a:solidFill>
                  <a:schemeClr val="dk1"/>
                </a:solidFill>
                <a:effectLst/>
                <a:uFillTx/>
                <a:latin typeface="Syne"/>
                <a:ea typeface="Syne"/>
              </a:rPr>
              <a:t>Technical </a:t>
            </a:r>
            <a:r>
              <a:rPr lang="en-US" sz="2600" b="1" u="none" strike="noStrike" dirty="0" smtClean="0">
                <a:solidFill>
                  <a:schemeClr val="dk1"/>
                </a:solidFill>
                <a:effectLst/>
                <a:uFillTx/>
                <a:latin typeface="Syne"/>
                <a:ea typeface="Syne"/>
              </a:rPr>
              <a:t>Implementation</a:t>
            </a:r>
            <a:br>
              <a:rPr lang="en-US" sz="2600" b="1" u="none" strike="noStrike" dirty="0" smtClean="0">
                <a:solidFill>
                  <a:schemeClr val="dk1"/>
                </a:solidFill>
                <a:effectLst/>
                <a:uFillTx/>
                <a:latin typeface="Syne"/>
                <a:ea typeface="Syne"/>
              </a:rPr>
            </a:br>
            <a:r>
              <a:rPr lang="en-US" sz="2600" b="1" u="none" strike="noStrike" dirty="0" smtClean="0">
                <a:solidFill>
                  <a:schemeClr val="dk1"/>
                </a:solidFill>
                <a:effectLst/>
                <a:uFillTx/>
                <a:latin typeface="Syne"/>
                <a:ea typeface="Syne"/>
              </a:rPr>
              <a:t/>
            </a:r>
            <a:br>
              <a:rPr lang="en-US" sz="2600" b="1" u="none" strike="noStrike" dirty="0" smtClean="0">
                <a:solidFill>
                  <a:schemeClr val="dk1"/>
                </a:solidFill>
                <a:effectLst/>
                <a:uFillTx/>
                <a:latin typeface="Syne"/>
                <a:ea typeface="Syne"/>
              </a:rPr>
            </a:br>
            <a:r>
              <a:rPr lang="en-US" sz="1600" b="1" u="none" strike="noStrike" dirty="0" smtClean="0">
                <a:solidFill>
                  <a:schemeClr val="dk1"/>
                </a:solidFill>
                <a:effectLst/>
                <a:uFillTx/>
                <a:latin typeface="Calibri" pitchFamily="34" charset="0"/>
                <a:ea typeface="Calibri" pitchFamily="34" charset="0"/>
                <a:cs typeface="Calibri" pitchFamily="34" charset="0"/>
              </a:rPr>
              <a:t>1</a:t>
            </a:r>
            <a:r>
              <a:rPr lang="en-US" sz="1600" b="1" u="none" strike="noStrike" dirty="0" smtClean="0">
                <a:solidFill>
                  <a:schemeClr val="dk1"/>
                </a:solidFill>
                <a:effectLst/>
                <a:uFillTx/>
                <a:latin typeface="Calibri" pitchFamily="34" charset="0"/>
                <a:ea typeface="Calibri" pitchFamily="34" charset="0"/>
                <a:cs typeface="Calibri" pitchFamily="34" charset="0"/>
              </a:rPr>
              <a:t>. Sensors:    - Accelerometer (motion tracking)    - Gyroscope (orientation tracking)    - Heart rate monitor </a:t>
            </a:r>
            <a:r>
              <a:rPr lang="en-US" sz="1600" b="1" u="none" strike="noStrike" dirty="0" smtClean="0">
                <a:solidFill>
                  <a:schemeClr val="dk1"/>
                </a:solidFill>
                <a:effectLst/>
                <a:uFillTx/>
                <a:latin typeface="Calibri" pitchFamily="34" charset="0"/>
                <a:ea typeface="Calibri" pitchFamily="34" charset="0"/>
                <a:cs typeface="Calibri" pitchFamily="34" charset="0"/>
              </a:rPr>
              <a:t>  </a:t>
            </a:r>
            <a:r>
              <a:rPr lang="en-US" sz="1600" b="1" u="none" strike="noStrike" dirty="0" smtClean="0">
                <a:solidFill>
                  <a:schemeClr val="dk1"/>
                </a:solidFill>
                <a:effectLst/>
                <a:uFillTx/>
                <a:latin typeface="Calibri" pitchFamily="34" charset="0"/>
                <a:ea typeface="Calibri" pitchFamily="34" charset="0"/>
                <a:cs typeface="Calibri" pitchFamily="34" charset="0"/>
              </a:rPr>
              <a:t>- GPS (location tracking</a:t>
            </a:r>
            <a:r>
              <a:rPr lang="en-US" sz="1600" b="1" u="none" strike="noStrike" dirty="0" smtClean="0">
                <a:solidFill>
                  <a:schemeClr val="dk1"/>
                </a:solidFill>
                <a:effectLst/>
                <a:uFillTx/>
                <a:latin typeface="Calibri" pitchFamily="34" charset="0"/>
                <a:ea typeface="Calibri" pitchFamily="34" charset="0"/>
                <a:cs typeface="Calibri" pitchFamily="34" charset="0"/>
              </a:rPr>
              <a:t>)</a:t>
            </a:r>
            <a:br>
              <a:rPr lang="en-US" sz="1600" b="1" u="none" strike="noStrike" dirty="0" smtClean="0">
                <a:solidFill>
                  <a:schemeClr val="dk1"/>
                </a:solidFill>
                <a:effectLst/>
                <a:uFillTx/>
                <a:latin typeface="Calibri" pitchFamily="34" charset="0"/>
                <a:ea typeface="Calibri" pitchFamily="34" charset="0"/>
                <a:cs typeface="Calibri" pitchFamily="34" charset="0"/>
              </a:rPr>
            </a:br>
            <a:r>
              <a:rPr lang="en-US" sz="1600" b="1" u="none" strike="noStrike" dirty="0" smtClean="0">
                <a:solidFill>
                  <a:schemeClr val="dk1"/>
                </a:solidFill>
                <a:effectLst/>
                <a:uFillTx/>
                <a:latin typeface="Calibri" pitchFamily="34" charset="0"/>
                <a:ea typeface="Calibri" pitchFamily="34" charset="0"/>
                <a:cs typeface="Calibri" pitchFamily="34" charset="0"/>
              </a:rPr>
              <a:t>2</a:t>
            </a:r>
            <a:r>
              <a:rPr lang="en-US" sz="1600" b="1" u="none" strike="noStrike" dirty="0" smtClean="0">
                <a:solidFill>
                  <a:schemeClr val="dk1"/>
                </a:solidFill>
                <a:effectLst/>
                <a:uFillTx/>
                <a:latin typeface="Calibri" pitchFamily="34" charset="0"/>
                <a:ea typeface="Calibri" pitchFamily="34" charset="0"/>
                <a:cs typeface="Calibri" pitchFamily="34" charset="0"/>
              </a:rPr>
              <a:t>. Microcontrollers:    - Processing and storing data from sensors    - Managing power consumption and battery life </a:t>
            </a:r>
            <a:r>
              <a:rPr lang="en-US" sz="1600" b="1" u="none" strike="noStrike" dirty="0" smtClean="0">
                <a:solidFill>
                  <a:schemeClr val="dk1"/>
                </a:solidFill>
                <a:effectLst/>
                <a:uFillTx/>
                <a:latin typeface="Calibri" pitchFamily="34" charset="0"/>
                <a:ea typeface="Calibri" pitchFamily="34" charset="0"/>
                <a:cs typeface="Calibri" pitchFamily="34" charset="0"/>
              </a:rPr>
              <a:t/>
            </a:r>
            <a:br>
              <a:rPr lang="en-US" sz="1600" b="1" u="none" strike="noStrike" dirty="0" smtClean="0">
                <a:solidFill>
                  <a:schemeClr val="dk1"/>
                </a:solidFill>
                <a:effectLst/>
                <a:uFillTx/>
                <a:latin typeface="Calibri" pitchFamily="34" charset="0"/>
                <a:ea typeface="Calibri" pitchFamily="34" charset="0"/>
                <a:cs typeface="Calibri" pitchFamily="34" charset="0"/>
              </a:rPr>
            </a:br>
            <a:r>
              <a:rPr lang="en-US" sz="1600" b="1" u="none" strike="noStrike" dirty="0" smtClean="0">
                <a:solidFill>
                  <a:schemeClr val="dk1"/>
                </a:solidFill>
                <a:effectLst/>
                <a:uFillTx/>
                <a:latin typeface="Calibri" pitchFamily="34" charset="0"/>
                <a:ea typeface="Calibri" pitchFamily="34" charset="0"/>
                <a:cs typeface="Calibri" pitchFamily="34" charset="0"/>
              </a:rPr>
              <a:t>3</a:t>
            </a:r>
            <a:r>
              <a:rPr lang="en-US" sz="1600" b="1" u="none" strike="noStrike" dirty="0" smtClean="0">
                <a:solidFill>
                  <a:schemeClr val="dk1"/>
                </a:solidFill>
                <a:effectLst/>
                <a:uFillTx/>
                <a:latin typeface="Calibri" pitchFamily="34" charset="0"/>
                <a:ea typeface="Calibri" pitchFamily="34" charset="0"/>
                <a:cs typeface="Calibri" pitchFamily="34" charset="0"/>
              </a:rPr>
              <a:t>. Connectivity:    - Bluetooth Low Energy (BLE) for syncing data with </a:t>
            </a:r>
            <a:r>
              <a:rPr lang="en-US" sz="1600" b="1" u="none" strike="noStrike" dirty="0" smtClean="0">
                <a:solidFill>
                  <a:schemeClr val="dk1"/>
                </a:solidFill>
                <a:effectLst/>
                <a:uFillTx/>
                <a:latin typeface="Calibri" pitchFamily="34" charset="0"/>
                <a:ea typeface="Calibri" pitchFamily="34" charset="0"/>
                <a:cs typeface="Calibri" pitchFamily="34" charset="0"/>
              </a:rPr>
              <a:t>smart phones    </a:t>
            </a:r>
            <a:r>
              <a:rPr lang="en-US" sz="1600" b="1" u="none" strike="noStrike" dirty="0" smtClean="0">
                <a:solidFill>
                  <a:schemeClr val="dk1"/>
                </a:solidFill>
                <a:effectLst/>
                <a:uFillTx/>
                <a:latin typeface="Calibri" pitchFamily="34" charset="0"/>
                <a:ea typeface="Calibri" pitchFamily="34" charset="0"/>
                <a:cs typeface="Calibri" pitchFamily="34" charset="0"/>
              </a:rPr>
              <a:t>- Wi-Fi for data upload and cloud </a:t>
            </a:r>
            <a:r>
              <a:rPr lang="en-US" sz="1600" b="1" u="none" strike="noStrike" dirty="0" smtClean="0">
                <a:solidFill>
                  <a:schemeClr val="dk1"/>
                </a:solidFill>
                <a:effectLst/>
                <a:uFillTx/>
                <a:latin typeface="Calibri" pitchFamily="34" charset="0"/>
                <a:ea typeface="Calibri" pitchFamily="34" charset="0"/>
                <a:cs typeface="Calibri" pitchFamily="34" charset="0"/>
              </a:rPr>
              <a:t>syncing</a:t>
            </a:r>
            <a:br>
              <a:rPr lang="en-US" sz="1600" b="1" u="none" strike="noStrike" dirty="0" smtClean="0">
                <a:solidFill>
                  <a:schemeClr val="dk1"/>
                </a:solidFill>
                <a:effectLst/>
                <a:uFillTx/>
                <a:latin typeface="Calibri" pitchFamily="34" charset="0"/>
                <a:ea typeface="Calibri" pitchFamily="34" charset="0"/>
                <a:cs typeface="Calibri" pitchFamily="34" charset="0"/>
              </a:rPr>
            </a:br>
            <a:r>
              <a:rPr lang="en-US" sz="1600" b="1" u="none" strike="noStrike" dirty="0" smtClean="0">
                <a:solidFill>
                  <a:schemeClr val="dk1"/>
                </a:solidFill>
                <a:effectLst/>
                <a:uFillTx/>
                <a:latin typeface="Calibri" pitchFamily="34" charset="0"/>
                <a:ea typeface="Calibri" pitchFamily="34" charset="0"/>
                <a:cs typeface="Calibri" pitchFamily="34" charset="0"/>
              </a:rPr>
              <a:t>4</a:t>
            </a:r>
            <a:r>
              <a:rPr lang="en-US" sz="1600" b="1" u="none" strike="noStrike" dirty="0" smtClean="0">
                <a:solidFill>
                  <a:schemeClr val="dk1"/>
                </a:solidFill>
                <a:effectLst/>
                <a:uFillTx/>
                <a:latin typeface="Calibri" pitchFamily="34" charset="0"/>
                <a:ea typeface="Calibri" pitchFamily="34" charset="0"/>
                <a:cs typeface="Calibri" pitchFamily="34" charset="0"/>
              </a:rPr>
              <a:t>. Data Analytics:    - Algorithms for step tracking, distance calculation, and calorie burn estimation    - Machine learning for activity recognition and personalized </a:t>
            </a:r>
            <a:r>
              <a:rPr lang="en-US" sz="1600" b="1" u="none" strike="noStrike" dirty="0" smtClean="0">
                <a:solidFill>
                  <a:schemeClr val="dk1"/>
                </a:solidFill>
                <a:effectLst/>
                <a:uFillTx/>
                <a:latin typeface="Calibri" pitchFamily="34" charset="0"/>
                <a:ea typeface="Calibri" pitchFamily="34" charset="0"/>
                <a:cs typeface="Calibri" pitchFamily="34" charset="0"/>
              </a:rPr>
              <a:t>insights</a:t>
            </a:r>
            <a:br>
              <a:rPr lang="en-US" sz="1600" b="1" u="none" strike="noStrike" dirty="0" smtClean="0">
                <a:solidFill>
                  <a:schemeClr val="dk1"/>
                </a:solidFill>
                <a:effectLst/>
                <a:uFillTx/>
                <a:latin typeface="Calibri" pitchFamily="34" charset="0"/>
                <a:ea typeface="Calibri" pitchFamily="34" charset="0"/>
                <a:cs typeface="Calibri" pitchFamily="34" charset="0"/>
              </a:rPr>
            </a:br>
            <a:r>
              <a:rPr lang="en-US" sz="1600" b="1" u="none" strike="noStrike" dirty="0" smtClean="0">
                <a:solidFill>
                  <a:schemeClr val="dk1"/>
                </a:solidFill>
                <a:effectLst/>
                <a:uFillTx/>
                <a:latin typeface="Calibri" pitchFamily="34" charset="0"/>
                <a:ea typeface="Calibri" pitchFamily="34" charset="0"/>
                <a:cs typeface="Calibri" pitchFamily="34" charset="0"/>
              </a:rPr>
              <a:t>5</a:t>
            </a:r>
            <a:r>
              <a:rPr lang="en-US" sz="1600" b="1" u="none" strike="noStrike" dirty="0" smtClean="0">
                <a:solidFill>
                  <a:schemeClr val="dk1"/>
                </a:solidFill>
                <a:effectLst/>
                <a:uFillTx/>
                <a:latin typeface="Calibri" pitchFamily="34" charset="0"/>
                <a:ea typeface="Calibri" pitchFamily="34" charset="0"/>
                <a:cs typeface="Calibri" pitchFamily="34" charset="0"/>
              </a:rPr>
              <a:t>. Power Management:    - Optimizing power consumption for long battery life    - Power-saving modes for reduced activity </a:t>
            </a:r>
            <a:r>
              <a:rPr lang="en-US" sz="1600" b="1" u="none" strike="noStrike" dirty="0" smtClean="0">
                <a:solidFill>
                  <a:schemeClr val="dk1"/>
                </a:solidFill>
                <a:effectLst/>
                <a:uFillTx/>
                <a:latin typeface="Calibri" pitchFamily="34" charset="0"/>
                <a:ea typeface="Calibri" pitchFamily="34" charset="0"/>
                <a:cs typeface="Calibri" pitchFamily="34" charset="0"/>
              </a:rPr>
              <a:t>tracking.</a:t>
            </a:r>
            <a:endParaRPr lang="fr-FR" sz="1600" b="0" u="none" strike="noStrike" dirty="0">
              <a:solidFill>
                <a:schemeClr val="dk1"/>
              </a:solidFill>
              <a:effectLst/>
              <a:uFillTx/>
              <a:latin typeface="Calibri" pitchFamily="34" charset="0"/>
              <a:ea typeface="Calibri" pitchFamily="34" charset="0"/>
              <a:cs typeface="Calibri" pitchFamily="34" charset="0"/>
            </a:endParaRPr>
          </a:p>
        </p:txBody>
      </p:sp>
      <p:pic>
        <p:nvPicPr>
          <p:cNvPr id="4" name="Picture 3" descr="implement.jpg"/>
          <p:cNvPicPr>
            <a:picLocks noChangeAspect="1"/>
          </p:cNvPicPr>
          <p:nvPr/>
        </p:nvPicPr>
        <p:blipFill>
          <a:blip r:embed="rId2"/>
          <a:stretch>
            <a:fillRect/>
          </a:stretch>
        </p:blipFill>
        <p:spPr>
          <a:xfrm>
            <a:off x="5181600" y="1276350"/>
            <a:ext cx="3733800" cy="3124200"/>
          </a:xfrm>
          <a:prstGeom prst="rect">
            <a:avLst/>
          </a:prstGeom>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714240" y="447840"/>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smtClean="0">
                <a:solidFill>
                  <a:schemeClr val="dk1"/>
                </a:solidFill>
                <a:effectLst/>
                <a:uFillTx/>
                <a:latin typeface="Syne"/>
                <a:ea typeface="Syne"/>
              </a:rPr>
              <a:t>Data Processing and Analysis</a:t>
            </a:r>
            <a:endParaRPr lang="fr-FR" sz="2600" b="0" u="none" strike="noStrike" dirty="0">
              <a:solidFill>
                <a:schemeClr val="dk1"/>
              </a:solidFill>
              <a:effectLst/>
              <a:uFillTx/>
              <a:latin typeface="Arial"/>
            </a:endParaRPr>
          </a:p>
        </p:txBody>
      </p:sp>
      <p:sp>
        <p:nvSpPr>
          <p:cNvPr id="81" name="PlaceHolder 2"/>
          <p:cNvSpPr>
            <a:spLocks noGrp="1"/>
          </p:cNvSpPr>
          <p:nvPr>
            <p:ph type="subTitle"/>
          </p:nvPr>
        </p:nvSpPr>
        <p:spPr>
          <a:xfrm>
            <a:off x="3886200" y="1276350"/>
            <a:ext cx="4952640" cy="180936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dirty="0">
                <a:solidFill>
                  <a:schemeClr val="dk1"/>
                </a:solidFill>
                <a:effectLst/>
                <a:uFillTx/>
                <a:latin typeface="Inter Light"/>
                <a:ea typeface="Inter Light"/>
              </a:rPr>
              <a:t>Collected data is processed through Python algorithms to filter noise and extract meaningful statistics. Advanced techniques analyze performance trends, calorie expenditure, and activity patterns. This processing enables personalized feedback and actionable insights for the users.</a:t>
            </a:r>
            <a:endParaRPr lang="en-US" sz="1200" b="0" u="none" strike="noStrike" dirty="0">
              <a:solidFill>
                <a:srgbClr val="FFFFFF"/>
              </a:solidFill>
              <a:effectLst/>
              <a:uFillTx/>
              <a:latin typeface="OpenSymbol"/>
            </a:endParaRPr>
          </a:p>
        </p:txBody>
      </p:sp>
      <p:pic>
        <p:nvPicPr>
          <p:cNvPr id="4" name="Picture 3" descr="data-analysis-process.png"/>
          <p:cNvPicPr>
            <a:picLocks noChangeAspect="1"/>
          </p:cNvPicPr>
          <p:nvPr/>
        </p:nvPicPr>
        <p:blipFill>
          <a:blip r:embed="rId2" cstate="print"/>
          <a:stretch>
            <a:fillRect/>
          </a:stretch>
        </p:blipFill>
        <p:spPr>
          <a:xfrm>
            <a:off x="228600" y="1428750"/>
            <a:ext cx="3523080" cy="3409950"/>
          </a:xfrm>
          <a:prstGeom prst="rect">
            <a:avLst/>
          </a:prstGeom>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37960" y="228600"/>
            <a:ext cx="3733560" cy="1828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yne"/>
                <a:ea typeface="Syne"/>
              </a:rPr>
              <a:t>User Interface Design</a:t>
            </a:r>
            <a:endParaRPr lang="fr-FR" sz="2600" b="0" u="none" strike="noStrike">
              <a:solidFill>
                <a:schemeClr val="dk1"/>
              </a:solidFill>
              <a:effectLst/>
              <a:uFillTx/>
              <a:latin typeface="Arial"/>
            </a:endParaRPr>
          </a:p>
        </p:txBody>
      </p:sp>
      <p:sp>
        <p:nvSpPr>
          <p:cNvPr id="83" name="PlaceHolder 2"/>
          <p:cNvSpPr>
            <a:spLocks noGrp="1"/>
          </p:cNvSpPr>
          <p:nvPr>
            <p:ph type="subTitle"/>
          </p:nvPr>
        </p:nvSpPr>
        <p:spPr>
          <a:xfrm>
            <a:off x="228600" y="819150"/>
            <a:ext cx="3733560" cy="381000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dirty="0">
                <a:solidFill>
                  <a:schemeClr val="dk1"/>
                </a:solidFill>
                <a:effectLst/>
                <a:uFillTx/>
                <a:latin typeface="Calibri" pitchFamily="34" charset="0"/>
                <a:ea typeface="Calibri" pitchFamily="34" charset="0"/>
                <a:cs typeface="Calibri" pitchFamily="34" charset="0"/>
              </a:rPr>
              <a:t>The user interface is designed for intuitive navigation and quick access to vital statistics. Visual elements such as graphs and progress bars provide clear representations of fitness metrics. The design prioritizes responsiveness and accessibility to enhance overall user experience</a:t>
            </a:r>
            <a:r>
              <a:rPr lang="en-US" sz="1200" b="0" u="none" strike="noStrike" dirty="0" smtClean="0">
                <a:solidFill>
                  <a:schemeClr val="dk1"/>
                </a:solidFill>
                <a:effectLst/>
                <a:uFillTx/>
                <a:latin typeface="Calibri" pitchFamily="34" charset="0"/>
                <a:ea typeface="Calibri" pitchFamily="34" charset="0"/>
                <a:cs typeface="Calibri" pitchFamily="34" charset="0"/>
              </a:rPr>
              <a:t>. The user interface of a fitness tracker is designed to be intuitive and user-friendly, providing easy access to key features and data. It typically includes a display screen showing metrics like steps, distance, heart rate, and calories burned, as well as navigation buttons or </a:t>
            </a:r>
            <a:r>
              <a:rPr lang="en-US" sz="1200" b="0" u="none" strike="noStrike" dirty="0" smtClean="0">
                <a:solidFill>
                  <a:schemeClr val="dk1"/>
                </a:solidFill>
                <a:effectLst/>
                <a:uFillTx/>
                <a:latin typeface="Calibri" pitchFamily="34" charset="0"/>
                <a:ea typeface="Calibri" pitchFamily="34" charset="0"/>
                <a:cs typeface="Calibri" pitchFamily="34" charset="0"/>
              </a:rPr>
              <a:t>touch screens </a:t>
            </a:r>
            <a:r>
              <a:rPr lang="en-US" sz="1200" b="0" u="none" strike="noStrike" dirty="0" smtClean="0">
                <a:solidFill>
                  <a:schemeClr val="dk1"/>
                </a:solidFill>
                <a:effectLst/>
                <a:uFillTx/>
                <a:latin typeface="Calibri" pitchFamily="34" charset="0"/>
                <a:ea typeface="Calibri" pitchFamily="34" charset="0"/>
                <a:cs typeface="Calibri" pitchFamily="34" charset="0"/>
              </a:rPr>
              <a:t>for seamless interaction</a:t>
            </a:r>
            <a:r>
              <a:rPr lang="en-US" sz="1200" b="0" u="none" strike="noStrike" dirty="0" smtClean="0">
                <a:solidFill>
                  <a:schemeClr val="dk1"/>
                </a:solidFill>
                <a:effectLst/>
                <a:uFillTx/>
                <a:latin typeface="Calibri" pitchFamily="34" charset="0"/>
                <a:ea typeface="Calibri" pitchFamily="34" charset="0"/>
                <a:cs typeface="Calibri" pitchFamily="34" charset="0"/>
              </a:rPr>
              <a:t>.</a:t>
            </a:r>
            <a:endParaRPr lang="en-US" sz="1200" b="0" u="none" strike="noStrike" dirty="0">
              <a:solidFill>
                <a:srgbClr val="FFFFFF"/>
              </a:solidFill>
              <a:effectLst/>
              <a:uFillTx/>
              <a:latin typeface="OpenSymbol"/>
            </a:endParaRPr>
          </a:p>
        </p:txBody>
      </p:sp>
      <p:pic>
        <p:nvPicPr>
          <p:cNvPr id="84" name="Google Shape;213;p31"/>
          <p:cNvPicPr/>
          <p:nvPr/>
        </p:nvPicPr>
        <p:blipFill>
          <a:blip r:embed="rId2"/>
          <a:srcRect l="33152" t="13264" r="11933"/>
          <a:stretch/>
        </p:blipFill>
        <p:spPr>
          <a:xfrm>
            <a:off x="4384080" y="228240"/>
            <a:ext cx="4530960" cy="4686120"/>
          </a:xfrm>
          <a:prstGeom prst="rect">
            <a:avLst/>
          </a:prstGeom>
          <a:noFill/>
          <a:ln w="0">
            <a:noFill/>
          </a:ln>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14240" y="447840"/>
            <a:ext cx="7714800" cy="164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yne"/>
                <a:ea typeface="Syne"/>
              </a:rPr>
              <a:t>Conclusions</a:t>
            </a:r>
            <a:endParaRPr lang="fr-FR" sz="2600" b="0" u="none" strike="noStrike" dirty="0">
              <a:solidFill>
                <a:schemeClr val="dk1"/>
              </a:solidFill>
              <a:effectLst/>
              <a:uFillTx/>
              <a:latin typeface="Arial"/>
            </a:endParaRPr>
          </a:p>
        </p:txBody>
      </p:sp>
      <p:sp>
        <p:nvSpPr>
          <p:cNvPr id="86" name="PlaceHolder 2"/>
          <p:cNvSpPr>
            <a:spLocks noGrp="1"/>
          </p:cNvSpPr>
          <p:nvPr>
            <p:ph type="subTitle"/>
          </p:nvPr>
        </p:nvSpPr>
        <p:spPr>
          <a:xfrm>
            <a:off x="3657600" y="1123950"/>
            <a:ext cx="5276520" cy="180936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200" b="0" u="none" strike="noStrike" dirty="0">
                <a:solidFill>
                  <a:schemeClr val="dk1"/>
                </a:solidFill>
                <a:effectLst/>
                <a:uFillTx/>
                <a:latin typeface="Inter Light"/>
                <a:ea typeface="Inter Light"/>
              </a:rPr>
              <a:t>The fitness and sports tracker project delivers a comprehensive solution that combines </a:t>
            </a:r>
            <a:r>
              <a:rPr lang="en-US" sz="1200" b="1" u="none" strike="noStrike" dirty="0">
                <a:solidFill>
                  <a:schemeClr val="dk1"/>
                </a:solidFill>
                <a:effectLst/>
                <a:uFillTx/>
                <a:latin typeface="Inter Light"/>
                <a:ea typeface="Inter Light"/>
              </a:rPr>
              <a:t>accurate data collection</a:t>
            </a:r>
            <a:r>
              <a:rPr lang="en-US" sz="1200" b="0" u="none" strike="noStrike" dirty="0">
                <a:solidFill>
                  <a:schemeClr val="dk1"/>
                </a:solidFill>
                <a:effectLst/>
                <a:uFillTx/>
                <a:latin typeface="Inter Light"/>
                <a:ea typeface="Inter Light"/>
              </a:rPr>
              <a:t>, robust analysis, and an engaging user interface. It successfully meets diverse user needs by promoting informed training decisions and healthier lifestyles. Future enhancements may include expanded sensor support and AI-driven coaching features.</a:t>
            </a:r>
            <a:endParaRPr lang="en-US" sz="1200" b="0" u="none" strike="noStrike" dirty="0">
              <a:solidFill>
                <a:srgbClr val="FFFFFF"/>
              </a:solidFill>
              <a:effectLst/>
              <a:uFillTx/>
              <a:latin typeface="OpenSymbol"/>
            </a:endParaRPr>
          </a:p>
        </p:txBody>
      </p:sp>
      <p:pic>
        <p:nvPicPr>
          <p:cNvPr id="4" name="Picture 3" descr="Conclusion-for-a-Research-Paper.png"/>
          <p:cNvPicPr>
            <a:picLocks noChangeAspect="1"/>
          </p:cNvPicPr>
          <p:nvPr/>
        </p:nvPicPr>
        <p:blipFill>
          <a:blip r:embed="rId2"/>
          <a:stretch>
            <a:fillRect/>
          </a:stretch>
        </p:blipFill>
        <p:spPr>
          <a:xfrm>
            <a:off x="228600" y="1200150"/>
            <a:ext cx="3276599" cy="3429000"/>
          </a:xfrm>
          <a:prstGeom prst="rect">
            <a:avLst/>
          </a:prstGeom>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theme/theme1.xml><?xml version="1.0" encoding="utf-8"?>
<a:theme xmlns:a="http://schemas.openxmlformats.org/drawingml/2006/main" name="Group Project Strategies by Slidesgo">
  <a:themeElements>
    <a:clrScheme name="Simple Light">
      <a:dk1>
        <a:srgbClr val="FFFFFF"/>
      </a:dk1>
      <a:lt1>
        <a:srgbClr val="000015"/>
      </a:lt1>
      <a:dk2>
        <a:srgbClr val="FFFFFF"/>
      </a:dk2>
      <a:lt2>
        <a:srgbClr val="BB637E"/>
      </a:lt2>
      <a:accent1>
        <a:srgbClr val="320952"/>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132</TotalTime>
  <Words>513</Words>
  <Application>LibreOffice/25.2.4.3$Linux_X86_64 LibreOffice_project/520$Build-3</Application>
  <PresentationFormat>On-screen Show (16:9)</PresentationFormat>
  <Paragraphs>28</Paragraphs>
  <Slides>10</Slides>
  <Notes>0</Notes>
  <HiddenSlides>0</HiddenSlides>
  <MMClips>0</MMClip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Group Project Strategies by Slidesgo</vt:lpstr>
      <vt:lpstr>Slidesgo Final Pages</vt:lpstr>
      <vt:lpstr>Fitness and Sports Tracker Python based project</vt:lpstr>
      <vt:lpstr>Introduction</vt:lpstr>
      <vt:lpstr>Project Overview  This project explores the role of fitness trackers in promoting physical activity and improving health outcomes. It provides a comprehensive overview of fitness tracking technology, its applications, benefits, and limitations, and discusses potential future directions for innovation and research. This project examines the impact of wearable fitness trackers on individual health and wellness, highlighting their benefits, limitations, and potential applications in healthcare and sports, to inform future development and research.</vt:lpstr>
      <vt:lpstr>Objectives and Scope  </vt:lpstr>
      <vt:lpstr>Key Features</vt:lpstr>
      <vt:lpstr>Target Users</vt:lpstr>
      <vt:lpstr>Technical Implementation  1. Sensors:    - Accelerometer (motion tracking)    - Gyroscope (orientation tracking)    - Heart rate monitor   - GPS (location tracking) 2. Microcontrollers:    - Processing and storing data from sensors    - Managing power consumption and battery life  3. Connectivity:    - Bluetooth Low Energy (BLE) for syncing data with smart phones    - Wi-Fi for data upload and cloud syncing 4. Data Analytics:    - Algorithms for step tracking, distance calculation, and calorie burn estimation    - Machine learning for activity recognition and personalized insights 5. Power Management:    - Optimizing power consumption for long battery life    - Power-saving modes for reduced activity tracking.</vt:lpstr>
      <vt:lpstr>Data Processing and Analysis</vt:lpstr>
      <vt:lpstr>User Interface Design</vt:lpstr>
      <vt:lpstr>Conclusions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Fitness and Sports Tracker Python based project</dc:title>
  <dc:creator>HP</dc:creator>
  <cp:lastModifiedBy>HP</cp:lastModifiedBy>
  <cp:revision>12</cp:revision>
  <dcterms:modified xsi:type="dcterms:W3CDTF">2025-10-26T15:24:17Z</dcterms:modified>
</cp:coreProperties>
</file>

<file path=docProps/core1.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2025-10-26T10:48:51Z</dcterms:created>
  <dc:creator>Unknown Creator</dc:creator>
  <dc:description/>
  <dc:language>en-US</dc:language>
  <cp:lastModifiedBy>Unknown Creator</cp:lastModifiedBy>
  <dcterms:modified xsi:type="dcterms:W3CDTF">2025-10-26T10:48:51Z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